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84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assist-ai-1-ual5.onrender.com/" TargetMode="Externa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20B2E"/>
              </a:gs>
              <a:gs pos="45000">
                <a:srgbClr val="2A1454"/>
              </a:gs>
              <a:gs pos="100000">
                <a:srgbClr val="4C1D95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4064000" cy="40640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22D3EE">
                  <a:alpha val="3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3556000"/>
            <a:ext cx="3302000" cy="3302000"/>
          </a:xfrm>
          <a:prstGeom prst="roundRect">
            <a:avLst>
              <a:gd name="adj" fmla="val 49231"/>
            </a:avLst>
          </a:prstGeom>
          <a:gradFill rotWithShape="1">
            <a:gsLst>
              <a:gs pos="0">
                <a:srgbClr val="F472B6">
                  <a:alpha val="2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50500" y="381000"/>
            <a:ext cx="153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devassist --init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2800" y="22860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🤖 RAG-BASED TECHNICAL TROUBLESHOOTING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269494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6F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🤖 DevAssist </a:t>
            </a:r>
            <a:r>
              <a:rPr lang="en-US" sz="75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812800" y="3825240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Debug smarter. Build faster.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2800" y="434086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72B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By M.S.S. LOKESH</a:t>
            </a:r>
            <a:endParaRPr lang="en-US" sz="1300" dirty="0"/>
          </a:p>
        </p:txBody>
      </p:sp>
      <p:pic>
        <p:nvPicPr>
          <p:cNvPr id="14" name="Image 0" descr="Glob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256020"/>
            <a:ext cx="177800" cy="177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2200" y="6238240"/>
            <a:ext cx="25483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9BD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devassist-ai-1-ual5.onrender.com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37090" y="6238240"/>
            <a:ext cx="16929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9BD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FastAPI · Next.js · RAG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63250" y="381000"/>
            <a:ext cx="11239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01_problem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🐞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40"/>
            <a:ext cx="10883392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🚧 Troubleshooting is slow and scattered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12800" y="1896110"/>
            <a:ext cx="5194300" cy="1696720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7C3AE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2800" y="1896110"/>
            <a:ext cx="5194300" cy="1696720"/>
          </a:xfrm>
          <a:custGeom>
            <a:avLst/>
            <a:gdLst/>
            <a:ahLst/>
            <a:cxnLst/>
            <a:rect l="l" t="t" r="r" b="b"/>
            <a:pathLst>
              <a:path w="5194300" h="169672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5067300" y="0"/>
                </a:lnTo>
                <a:arcTo wR="127000" hR="127000" stAng="16200000" swAng="5400000"/>
                <a:lnTo>
                  <a:pt x="5194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7C3AED"/>
          </a:solidFill>
          <a:ln/>
        </p:spPr>
      </p:sp>
      <p:pic>
        <p:nvPicPr>
          <p:cNvPr id="11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20091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6800" y="253111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Answers are scattered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6800" y="2876550"/>
            <a:ext cx="48268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Engineers dig through docs, old tickets, and Slack threads just to debug one recurring issue.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84900" y="1896110"/>
            <a:ext cx="5194300" cy="1696720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22D3E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84900" y="1896110"/>
            <a:ext cx="5194300" cy="1696720"/>
          </a:xfrm>
          <a:custGeom>
            <a:avLst/>
            <a:gdLst/>
            <a:ahLst/>
            <a:cxnLst/>
            <a:rect l="l" t="t" r="r" b="b"/>
            <a:pathLst>
              <a:path w="5194300" h="169672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5067300" y="0"/>
                </a:lnTo>
                <a:arcTo wR="127000" hR="127000" stAng="16200000" swAng="5400000"/>
                <a:lnTo>
                  <a:pt x="5194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2D3EE"/>
          </a:solidFill>
          <a:ln/>
        </p:spPr>
      </p:sp>
      <p:pic>
        <p:nvPicPr>
          <p:cNvPr id="16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8900" y="220091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38900" y="253111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single source of truth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38900" y="2876550"/>
            <a:ext cx="48268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Answers vary from person to person, so junior engineers get inconsistent guidance.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800" y="3770630"/>
            <a:ext cx="5194300" cy="1696720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F472B6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2800" y="3770630"/>
            <a:ext cx="5194300" cy="1696720"/>
          </a:xfrm>
          <a:custGeom>
            <a:avLst/>
            <a:gdLst/>
            <a:ahLst/>
            <a:cxnLst/>
            <a:rect l="l" t="t" r="r" b="b"/>
            <a:pathLst>
              <a:path w="5194300" h="169672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5067300" y="0"/>
                </a:lnTo>
                <a:arcTo wR="127000" hR="127000" stAng="16200000" swAng="5400000"/>
                <a:lnTo>
                  <a:pt x="5194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F472B6"/>
          </a:solidFill>
          <a:ln/>
        </p:spPr>
      </p:sp>
      <p:pic>
        <p:nvPicPr>
          <p:cNvPr id="21" name="Image 2" descr="Cha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00" y="407543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6800" y="440563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Screenshots go untyped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066800" y="4751070"/>
            <a:ext cx="48268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 error in a screenshot means retyping it by hand before anyone can even search for it.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84900" y="3770630"/>
            <a:ext cx="5194300" cy="1696720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FBBF24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84900" y="3770630"/>
            <a:ext cx="5194300" cy="1696720"/>
          </a:xfrm>
          <a:custGeom>
            <a:avLst/>
            <a:gdLst/>
            <a:ahLst/>
            <a:cxnLst/>
            <a:rect l="l" t="t" r="r" b="b"/>
            <a:pathLst>
              <a:path w="5194300" h="169672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5067300" y="0"/>
                </a:lnTo>
                <a:arcTo wR="127000" hR="127000" stAng="16200000" swAng="5400000"/>
                <a:lnTo>
                  <a:pt x="5194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FBBF24"/>
          </a:solidFill>
          <a:ln/>
        </p:spPr>
      </p:sp>
      <p:pic>
        <p:nvPicPr>
          <p:cNvPr id="26" name="Image 3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8900" y="407543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38900" y="4405630"/>
            <a:ext cx="48268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Escalations lack context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438900" y="4751070"/>
            <a:ext cx="48268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Tickets get routed to the wrong team, with no reason attached for why.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41"/>
            <a:ext cx="957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90A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45800" y="3810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02_models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⚙️ WHAT POWERS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924561"/>
            <a:ext cx="10883392" cy="44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🤖 The models behind DevAssist AI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12800" y="1576705"/>
            <a:ext cx="5194300" cy="2848610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/>
          <a:effectLst>
            <a:outerShdw blurRad="215900" dist="88900" dir="5400000" algn="bl" rotWithShape="0">
              <a:srgbClr val="7C3AED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41400" y="1805305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🧮 TF-IDF — turning words into scores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1400" y="2122805"/>
            <a:ext cx="4879213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Term Frequency – Inverse Document Frequency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1400" y="2398395"/>
            <a:ext cx="4879213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Term Frequency</a:t>
            </a: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— how often a word shows up in this one problem. More mentions, more relevant (up to a point).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1400" y="2892425"/>
            <a:ext cx="4879213" cy="6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Inverse Document Frequency</a:t>
            </a: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— how rare that word is across every guide. Common words like "error" score low; specific words like "timeout" or "401" score high.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1400" y="3589020"/>
            <a:ext cx="4879213" cy="6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Multiply the two together, and every guide — and your typed-in problem — becomes a long list of numbers: which words matter most, right here.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4900" y="1576705"/>
            <a:ext cx="5194300" cy="2848610"/>
          </a:xfrm>
          <a:prstGeom prst="roundRect">
            <a:avLst>
              <a:gd name="adj" fmla="val 4904"/>
            </a:avLst>
          </a:prstGeom>
          <a:gradFill rotWithShape="1">
            <a:gsLst>
              <a:gs pos="0">
                <a:srgbClr val="120B2E"/>
              </a:gs>
              <a:gs pos="100000">
                <a:srgbClr val="2A1454"/>
              </a:gs>
            </a:gsLst>
            <a:lin ang="42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6413500" y="1805305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📐 Cosine Similarity — comparing those lists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3500" y="2122805"/>
            <a:ext cx="4879213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Angle, not length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13500" y="2398395"/>
            <a:ext cx="4879213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Your problem's number-list is compared against each guide's list — by the </a:t>
            </a:r>
            <a:r>
              <a:rPr lang="en-US" sz="1100" b="1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angle</a:t>
            </a: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between them, not how long either list is.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3500" y="2892425"/>
            <a:ext cx="4879213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Point in </a:t>
            </a:r>
            <a:r>
              <a:rPr lang="en-US" sz="1100" b="1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nearly the same direction</a:t>
            </a: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(similar important words) → similarity close to 1, a strong match.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3500" y="3386455"/>
            <a:ext cx="4879213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Point in </a:t>
            </a:r>
            <a:r>
              <a:rPr lang="en-US" sz="1100" b="1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different directions</a:t>
            </a: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(nothing in common) → similarity close to 0, no match.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55904" y="4653916"/>
            <a:ext cx="7880112" cy="4241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7C3AED">
                <a:alpha val="14000"/>
              </a:srgbClr>
            </a:outerShdw>
          </a:effectLst>
        </p:spPr>
      </p:sp>
      <p:pic>
        <p:nvPicPr>
          <p:cNvPr id="22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4504" y="4783455"/>
            <a:ext cx="165100" cy="1651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651204" y="4768216"/>
            <a:ext cx="737089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🖼️ Screenshots go through the same comparison too — Tesseract OCR just reads them into words 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381000"/>
            <a:ext cx="137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03_similarity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📐 THE MATCHMAKER, EXPLAINED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41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🧮 TF-IDF &amp; Cosine Similarity, simply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812800" y="1776095"/>
            <a:ext cx="5181600" cy="2650490"/>
          </a:xfrm>
          <a:prstGeom prst="roundRect">
            <a:avLst>
              <a:gd name="adj" fmla="val 5750"/>
            </a:avLst>
          </a:prstGeom>
          <a:solidFill>
            <a:srgbClr val="FFFFFF"/>
          </a:solidFill>
          <a:ln/>
          <a:effectLst>
            <a:outerShdw blurRad="203200" dist="88900" dir="5400000" algn="bl" rotWithShape="0">
              <a:srgbClr val="7C3AE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6800" y="2030095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TF-IDF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375536"/>
            <a:ext cx="4813808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DB2777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Turns words into scores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6800" y="2681605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Term Frequency</a:t>
            </a: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— how often a word shows up in this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187066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Inverse Document Frequency</a:t>
            </a: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— how rare that word is across all guides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6800" y="3730625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Common words like "error" score low. Specific words like "timeout" or "401" score high.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7600" y="1776095"/>
            <a:ext cx="5181600" cy="2650490"/>
          </a:xfrm>
          <a:prstGeom prst="roundRect">
            <a:avLst>
              <a:gd name="adj" fmla="val 5750"/>
            </a:avLst>
          </a:prstGeom>
          <a:solidFill>
            <a:srgbClr val="FFFFFF"/>
          </a:solidFill>
          <a:ln/>
          <a:effectLst>
            <a:outerShdw blurRad="203200" dist="88900" dir="5400000" algn="bl" rotWithShape="0">
              <a:srgbClr val="22D3EE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1600" y="2030095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891A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1600" y="2375536"/>
            <a:ext cx="4813808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DB2777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Compares two lists of scores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51600" y="2681605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Your problem and every guide become a long list of word-scores — a direction, not just a length.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1600" y="3225166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lists pointing the </a:t>
            </a:r>
            <a:r>
              <a:rPr lang="en-US" sz="12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same way</a:t>
            </a: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= a strong match. Pointing in </a:t>
            </a:r>
            <a:r>
              <a:rPr lang="en-US" sz="1200" b="1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different directions</a:t>
            </a:r>
            <a:r>
              <a:rPr lang="en-US" sz="12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= no match.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26744" y="4765675"/>
            <a:ext cx="124055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"Login times out"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480000">
            <a:off x="2423160" y="5024755"/>
            <a:ext cx="13970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pic>
        <p:nvPicPr>
          <p:cNvPr id="22" name="Image 0" descr="Activit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13860" y="4812666"/>
            <a:ext cx="203200" cy="203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52169" y="4765675"/>
            <a:ext cx="17656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Guide: "Session timeout"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 rot="240000">
            <a:off x="4810760" y="5024755"/>
            <a:ext cx="139700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Shape 22"/>
          <p:cNvSpPr/>
          <p:nvPr/>
        </p:nvSpPr>
        <p:spPr>
          <a:xfrm>
            <a:off x="6601460" y="4705986"/>
            <a:ext cx="3357801" cy="4165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ang="1800000" scaled="0"/>
          </a:gradFill>
          <a:ln/>
        </p:spPr>
      </p:sp>
      <p:pic>
        <p:nvPicPr>
          <p:cNvPr id="2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04660" y="4831716"/>
            <a:ext cx="165100" cy="1651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45960" y="4807586"/>
            <a:ext cx="27914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Nearly same direction → 91% match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80700" y="381000"/>
            <a:ext cx="120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04_solution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💡 THE 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39"/>
            <a:ext cx="10883392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✨ One clean guidance panel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12800" y="1525907"/>
            <a:ext cx="91567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Describe a problem, paste an error, or upload a screenshot — DevAssist AI retrieves the matching approved guide, walks you through it step by step, and tells you exactly who to escalate 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800" y="2259964"/>
            <a:ext cx="3429000" cy="1449070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" y="2259964"/>
            <a:ext cx="3429000" cy="1449070"/>
          </a:xfrm>
          <a:custGeom>
            <a:avLst/>
            <a:gdLst/>
            <a:ahLst/>
            <a:cxnLst/>
            <a:rect l="l" t="t" r="r" b="b"/>
            <a:pathLst>
              <a:path w="3429000" h="1449070">
                <a:moveTo>
                  <a:pt x="127000" y="1449070"/>
                </a:moveTo>
                <a:lnTo>
                  <a:pt x="127000" y="144907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322070"/>
                </a:lnTo>
                <a:arcTo wR="88900" hR="127000" stAng="10800000" swAng="-5400000"/>
                <a:close/>
              </a:path>
            </a:pathLst>
          </a:custGeom>
          <a:solidFill>
            <a:srgbClr val="7C3AED"/>
          </a:solidFill>
          <a:ln/>
        </p:spPr>
      </p:sp>
      <p:pic>
        <p:nvPicPr>
          <p:cNvPr id="12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160" y="2437764"/>
            <a:ext cx="190500" cy="190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6160" y="2704464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Troubleshoot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26160" y="2971164"/>
            <a:ext cx="31289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box for pasting an error or describing a problem.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1500" y="2259964"/>
            <a:ext cx="3429000" cy="1449070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381500" y="2259964"/>
            <a:ext cx="3429000" cy="1449070"/>
          </a:xfrm>
          <a:custGeom>
            <a:avLst/>
            <a:gdLst/>
            <a:ahLst/>
            <a:cxnLst/>
            <a:rect l="l" t="t" r="r" b="b"/>
            <a:pathLst>
              <a:path w="3429000" h="1449070">
                <a:moveTo>
                  <a:pt x="127000" y="1449070"/>
                </a:moveTo>
                <a:lnTo>
                  <a:pt x="127000" y="144907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322070"/>
                </a:lnTo>
                <a:arcTo wR="88900" hR="127000" stAng="10800000" swAng="-5400000"/>
                <a:close/>
              </a:path>
            </a:pathLst>
          </a:custGeom>
          <a:solidFill>
            <a:srgbClr val="22D3EE"/>
          </a:solidFill>
          <a:ln/>
        </p:spPr>
      </p:sp>
      <p:pic>
        <p:nvPicPr>
          <p:cNvPr id="17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4860" y="2437764"/>
            <a:ext cx="190500" cy="190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94860" y="2704464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Knowledge-grounded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94860" y="2971164"/>
            <a:ext cx="3128975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Causes and steps come only from the approved knowledge base — never a made-up fix.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0200" y="2259964"/>
            <a:ext cx="3429000" cy="1449070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950200" y="2259964"/>
            <a:ext cx="3429000" cy="1449070"/>
          </a:xfrm>
          <a:custGeom>
            <a:avLst/>
            <a:gdLst/>
            <a:ahLst/>
            <a:cxnLst/>
            <a:rect l="l" t="t" r="r" b="b"/>
            <a:pathLst>
              <a:path w="3429000" h="1449070">
                <a:moveTo>
                  <a:pt x="127000" y="1449070"/>
                </a:moveTo>
                <a:lnTo>
                  <a:pt x="127000" y="144907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322070"/>
                </a:lnTo>
                <a:arcTo wR="88900" hR="127000" stAng="10800000" swAng="-5400000"/>
                <a:close/>
              </a:path>
            </a:pathLst>
          </a:custGeom>
          <a:solidFill>
            <a:srgbClr val="FBBF24"/>
          </a:solidFill>
          <a:ln/>
        </p:spPr>
      </p:sp>
      <p:pic>
        <p:nvPicPr>
          <p:cNvPr id="22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3560" y="2437764"/>
            <a:ext cx="190500" cy="190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63560" y="2704464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Smart escalation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163560" y="2971164"/>
            <a:ext cx="31289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Routes to the responsible team with the reason attached.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12800" y="3848736"/>
            <a:ext cx="3429000" cy="1262380"/>
          </a:xfrm>
          <a:prstGeom prst="roundRect">
            <a:avLst>
              <a:gd name="adj" fmla="val 10060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812800" y="3848736"/>
            <a:ext cx="3429000" cy="1262380"/>
          </a:xfrm>
          <a:custGeom>
            <a:avLst/>
            <a:gdLst/>
            <a:ahLst/>
            <a:cxnLst/>
            <a:rect l="l" t="t" r="r" b="b"/>
            <a:pathLst>
              <a:path w="3429000" h="1262380">
                <a:moveTo>
                  <a:pt x="127000" y="1262380"/>
                </a:moveTo>
                <a:lnTo>
                  <a:pt x="127000" y="126238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135380"/>
                </a:lnTo>
                <a:arcTo wR="88900" hR="127000" stAng="10800000" swAng="-5400000"/>
                <a:close/>
              </a:path>
            </a:pathLst>
          </a:custGeom>
          <a:solidFill>
            <a:srgbClr val="34D399"/>
          </a:solidFill>
          <a:ln/>
        </p:spPr>
      </p:sp>
      <p:pic>
        <p:nvPicPr>
          <p:cNvPr id="27" name="Image 3" descr="CheckCircl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6160" y="4026536"/>
            <a:ext cx="190500" cy="1905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6160" y="4293236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Saved automatically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026160" y="4559936"/>
            <a:ext cx="31289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analyzed ticket becomes a reference the whole team can reuse.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1500" y="3848736"/>
            <a:ext cx="3429000" cy="1262380"/>
          </a:xfrm>
          <a:prstGeom prst="roundRect">
            <a:avLst>
              <a:gd name="adj" fmla="val 10060"/>
            </a:avLst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4381500" y="3848736"/>
            <a:ext cx="3429000" cy="1262380"/>
          </a:xfrm>
          <a:custGeom>
            <a:avLst/>
            <a:gdLst/>
            <a:ahLst/>
            <a:cxnLst/>
            <a:rect l="l" t="t" r="r" b="b"/>
            <a:pathLst>
              <a:path w="3429000" h="1262380">
                <a:moveTo>
                  <a:pt x="127000" y="1262380"/>
                </a:moveTo>
                <a:lnTo>
                  <a:pt x="127000" y="126238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135380"/>
                </a:lnTo>
                <a:arcTo wR="88900" hR="127000" stAng="10800000" swAng="-5400000"/>
                <a:close/>
              </a:path>
            </a:pathLst>
          </a:custGeom>
          <a:solidFill>
            <a:srgbClr val="F472B6"/>
          </a:solidFill>
          <a:ln/>
        </p:spPr>
      </p:sp>
      <p:pic>
        <p:nvPicPr>
          <p:cNvPr id="32" name="Image 4" descr="Cod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4860" y="4026536"/>
            <a:ext cx="190500" cy="1905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94860" y="4293236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Screenshot upload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94860" y="4559936"/>
            <a:ext cx="31289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OCR reads the error out of an image — no retyping by hand.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950200" y="3848736"/>
            <a:ext cx="3429000" cy="1262380"/>
          </a:xfrm>
          <a:prstGeom prst="roundRect">
            <a:avLst>
              <a:gd name="adj" fmla="val 10060"/>
            </a:avLst>
          </a:prstGeom>
          <a:solidFill>
            <a:srgbClr val="FFFFFF"/>
          </a:solidFill>
          <a:ln/>
        </p:spPr>
      </p:sp>
      <p:sp>
        <p:nvSpPr>
          <p:cNvPr id="36" name="Shape 29"/>
          <p:cNvSpPr/>
          <p:nvPr/>
        </p:nvSpPr>
        <p:spPr>
          <a:xfrm>
            <a:off x="7950200" y="3848736"/>
            <a:ext cx="3429000" cy="1262380"/>
          </a:xfrm>
          <a:custGeom>
            <a:avLst/>
            <a:gdLst/>
            <a:ahLst/>
            <a:cxnLst/>
            <a:rect l="l" t="t" r="r" b="b"/>
            <a:pathLst>
              <a:path w="3429000" h="1262380">
                <a:moveTo>
                  <a:pt x="127000" y="1262380"/>
                </a:moveTo>
                <a:lnTo>
                  <a:pt x="127000" y="1262380"/>
                </a:lnTo>
                <a:arcTo wR="127000" hR="127000" stAng="5400000" swAng="5400000"/>
                <a:lnTo>
                  <a:pt x="0" y="127000"/>
                </a:lnTo>
                <a:arcTo wR="127000" hR="127000" stAng="10800000" swAng="5400000"/>
                <a:lnTo>
                  <a:pt x="127000" y="0"/>
                </a:lnTo>
                <a:arcTo wR="88900" hR="127000" stAng="16200000" swAng="-5400000"/>
                <a:lnTo>
                  <a:pt x="38100" y="1135380"/>
                </a:lnTo>
                <a:arcTo wR="88900" hR="127000" stAng="10800000" swAng="-5400000"/>
                <a:close/>
              </a:path>
            </a:pathLst>
          </a:custGeom>
          <a:solidFill>
            <a:srgbClr val="818CF8"/>
          </a:solidFill>
          <a:ln/>
        </p:spPr>
      </p:sp>
      <p:pic>
        <p:nvPicPr>
          <p:cNvPr id="37" name="Image 5" descr="Lightni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63560" y="4026536"/>
            <a:ext cx="190500" cy="1905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163560" y="4293236"/>
            <a:ext cx="31289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Floating assistant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163560" y="4559936"/>
            <a:ext cx="31289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Same flow in a chat bubble, plus "how do I...?" app help.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12800" y="6238239"/>
            <a:ext cx="957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90A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20B2E"/>
              </a:gs>
              <a:gs pos="45000">
                <a:srgbClr val="2A1454"/>
              </a:gs>
              <a:gs pos="100000">
                <a:srgbClr val="4C1D95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382000" y="3048000"/>
            <a:ext cx="3810000" cy="3810000"/>
          </a:xfrm>
          <a:prstGeom prst="roundRect">
            <a:avLst>
              <a:gd name="adj" fmla="val 42667"/>
            </a:avLst>
          </a:prstGeom>
          <a:gradFill rotWithShape="1">
            <a:gsLst>
              <a:gs pos="0">
                <a:srgbClr val="22D3EE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0700" y="381000"/>
            <a:ext cx="120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05_pipeline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2D3E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🔄 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1043939"/>
            <a:ext cx="10883392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F6F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⚙️ End to end, in five steps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12800" y="1525907"/>
            <a:ext cx="981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describing a problem to getting it solved — five simple steps, no jargon.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28800" y="2154557"/>
            <a:ext cx="711200" cy="711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27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1992551" y="2342514"/>
            <a:ext cx="43449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1️⃣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79801" y="2967357"/>
            <a:ext cx="120911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describe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33500" y="3259457"/>
            <a:ext cx="170180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Type the problem, paste an error, or upload a screenshot</a:t>
            </a:r>
            <a:endParaRPr lang="en-US" sz="1050" dirty="0"/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2116457"/>
            <a:ext cx="381000" cy="101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784600" y="2154557"/>
            <a:ext cx="711200" cy="711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2700000" scaled="0"/>
          </a:gradFill>
          <a:ln/>
        </p:spPr>
      </p:sp>
      <p:sp>
        <p:nvSpPr>
          <p:cNvPr id="18" name="Text 15"/>
          <p:cNvSpPr/>
          <p:nvPr/>
        </p:nvSpPr>
        <p:spPr>
          <a:xfrm>
            <a:off x="3948351" y="2342514"/>
            <a:ext cx="43449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2️⃣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311922" y="2967357"/>
            <a:ext cx="16565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reads the problem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289300" y="3259457"/>
            <a:ext cx="170180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screenshot's text is read automatically — same as if you'd typed it</a:t>
            </a:r>
            <a:endParaRPr lang="en-US" sz="1050" dirty="0"/>
          </a:p>
        </p:txBody>
      </p:sp>
      <p:pic>
        <p:nvPicPr>
          <p:cNvPr id="2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7600" y="2116457"/>
            <a:ext cx="381000" cy="101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740400" y="2154557"/>
            <a:ext cx="711200" cy="711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A8"/>
              </a:gs>
            </a:gsLst>
            <a:lin ang="2700000" scaled="0"/>
          </a:gradFill>
          <a:ln/>
        </p:spPr>
      </p:sp>
      <p:sp>
        <p:nvSpPr>
          <p:cNvPr id="23" name="Text 19"/>
          <p:cNvSpPr/>
          <p:nvPr/>
        </p:nvSpPr>
        <p:spPr>
          <a:xfrm>
            <a:off x="5904151" y="2342514"/>
            <a:ext cx="43449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B0F19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3️⃣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5245100" y="2967357"/>
            <a:ext cx="170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finds the right guide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245100" y="3449957"/>
            <a:ext cx="170180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Matched against the approved knowledge base — never a guess</a:t>
            </a:r>
            <a:endParaRPr lang="en-US" sz="1050" dirty="0"/>
          </a:p>
        </p:txBody>
      </p:sp>
      <p:pic>
        <p:nvPicPr>
          <p:cNvPr id="26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83400" y="2116457"/>
            <a:ext cx="381000" cy="101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696200" y="2154557"/>
            <a:ext cx="711200" cy="711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2700000" scaled="0"/>
          </a:gradFill>
          <a:ln/>
        </p:spPr>
      </p:sp>
      <p:sp>
        <p:nvSpPr>
          <p:cNvPr id="28" name="Text 23"/>
          <p:cNvSpPr/>
          <p:nvPr/>
        </p:nvSpPr>
        <p:spPr>
          <a:xfrm>
            <a:off x="7859950" y="2342514"/>
            <a:ext cx="43449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4️⃣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7282577" y="2967357"/>
            <a:ext cx="153836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get clear steps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200900" y="3259457"/>
            <a:ext cx="17018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instruction at a time, in plain language</a:t>
            </a:r>
            <a:endParaRPr lang="en-US" sz="1050" dirty="0"/>
          </a:p>
        </p:txBody>
      </p:sp>
      <p:pic>
        <p:nvPicPr>
          <p:cNvPr id="31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39200" y="2116457"/>
            <a:ext cx="381000" cy="1016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652000" y="2154557"/>
            <a:ext cx="711200" cy="711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72B6"/>
              </a:gs>
              <a:gs pos="100000">
                <a:srgbClr val="DB2777"/>
              </a:gs>
            </a:gsLst>
            <a:lin ang="2700000" scaled="0"/>
          </a:gradFill>
          <a:ln/>
        </p:spPr>
      </p:sp>
      <p:pic>
        <p:nvPicPr>
          <p:cNvPr id="33" name="Image 4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55200" y="2357757"/>
            <a:ext cx="304800" cy="3048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13136" y="2967357"/>
            <a:ext cx="158892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Solved or escalated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156700" y="3259457"/>
            <a:ext cx="1701800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Fixed and saved for next time — or sent to the right team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98150" y="381000"/>
            <a:ext cx="12890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06_retrieval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📚 UNDER THE HOOD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39"/>
            <a:ext cx="10883392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🔎 The retrieval engine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12800" y="1540511"/>
            <a:ext cx="948372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external AI API required — matching is fast, explainable, and grounded in the approved knowledge base.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27910"/>
          <a:ext cx="10556240" cy="2598420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4FF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Task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4FF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Approach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4FF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In plain terms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7C3AE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🔎 Retrieval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132B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TF-IDF + cosine similarity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5473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Matches your wording against every guide and scores how confident it is.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7C3AE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🖼️ OCR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132B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Tesseract via pytesseract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5473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Reads error text straight out of a screenshot.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7C3AE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🔁 Iterative loop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4C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132B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Deterministic step engine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5473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Walks the guide's steps one at a time, re-checking only on a new error.</a:t>
                      </a:r>
                      <a:endParaRPr lang="en-US" sz="135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39"/>
            <a:ext cx="957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90A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93450" y="381000"/>
            <a:ext cx="7937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07_ocr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👁️ UNDER THE HOOD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39"/>
            <a:ext cx="10883392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🖼️ Reading a screenshot like typed text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12800" y="1928496"/>
            <a:ext cx="2912507" cy="1366520"/>
          </a:xfrm>
          <a:prstGeom prst="roundRect">
            <a:avLst>
              <a:gd name="adj" fmla="val 9294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7C3AED">
                <a:alpha val="10000"/>
              </a:srgbClr>
            </a:outerShdw>
          </a:effectLst>
        </p:spPr>
      </p:sp>
      <p:pic>
        <p:nvPicPr>
          <p:cNvPr id="10" name="Image 0" descr="Clou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3914" y="2157096"/>
            <a:ext cx="330200" cy="330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2314" y="2576196"/>
            <a:ext cx="184728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Screenshot uploaded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38092" y="2870836"/>
            <a:ext cx="246184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User drags in an image of the error</a:t>
            </a:r>
            <a:endParaRPr lang="en-US" sz="11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15807" y="2560957"/>
            <a:ext cx="5334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39707" y="1830707"/>
            <a:ext cx="2912586" cy="1562100"/>
          </a:xfrm>
          <a:prstGeom prst="roundRect">
            <a:avLst>
              <a:gd name="adj" fmla="val 8130"/>
            </a:avLst>
          </a:prstGeom>
          <a:gradFill rotWithShape="1">
            <a:gsLst>
              <a:gs pos="0">
                <a:srgbClr val="120B2E"/>
              </a:gs>
              <a:gs pos="100000">
                <a:srgbClr val="2A1454"/>
              </a:gs>
            </a:gsLst>
            <a:lin ang="3600000" scaled="0"/>
          </a:gradFill>
          <a:ln/>
        </p:spPr>
      </p:sp>
      <p:pic>
        <p:nvPicPr>
          <p:cNvPr id="15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30900" y="2059307"/>
            <a:ext cx="330200" cy="33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0526" y="2478407"/>
            <a:ext cx="128166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Tesseract OCR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831476" y="2773046"/>
            <a:ext cx="25290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Extracts the raw error text from the pixels</a:t>
            </a:r>
            <a:endParaRPr lang="en-US" sz="1100" dirty="0"/>
          </a:p>
        </p:txBody>
      </p:sp>
      <p:pic>
        <p:nvPicPr>
          <p:cNvPr id="18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42793" y="2560957"/>
            <a:ext cx="533400" cy="101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466693" y="1830707"/>
            <a:ext cx="2912507" cy="156210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22D3EE">
                <a:alpha val="14000"/>
              </a:srgbClr>
            </a:outerShdw>
          </a:effectLst>
        </p:spPr>
      </p:sp>
      <p:pic>
        <p:nvPicPr>
          <p:cNvPr id="20" name="Image 4" descr="CheckCircl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57807" y="2059307"/>
            <a:ext cx="330200" cy="330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81160" y="2478407"/>
            <a:ext cx="133429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Treated as text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658464" y="2773046"/>
            <a:ext cx="252896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Goes straight into the same retrieval engine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12800" y="3697607"/>
            <a:ext cx="98107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retyping the error by hand — a screenshot and a pasted error log get the exact same grounded guidance.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12800" y="6238242"/>
            <a:ext cx="957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90A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0900" y="3810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08_loop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🪜 UNDER THE HOOD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42"/>
            <a:ext cx="10883392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🔁 Iterative troubleshooting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12800" y="1540514"/>
            <a:ext cx="94837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Mirrors how a senior engineer would actually walk you through a fix — one step at a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03600" y="2119629"/>
            <a:ext cx="60960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3551396" y="2287271"/>
            <a:ext cx="3647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1️⃣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95387" y="2830829"/>
            <a:ext cx="122602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Show the step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61920" y="3130550"/>
            <a:ext cx="2092960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instruction at a time, never the whole guide at once</a:t>
            </a:r>
            <a:endParaRPr lang="en-US" sz="1100" dirty="0"/>
          </a:p>
        </p:txBody>
      </p:sp>
      <p:pic>
        <p:nvPicPr>
          <p:cNvPr id="1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6300" y="2857184"/>
            <a:ext cx="431800" cy="10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791200" y="2213930"/>
            <a:ext cx="60960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0891A8"/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5938996" y="2381566"/>
            <a:ext cx="3647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F19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2️⃣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37900" y="2925130"/>
            <a:ext cx="191612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Report what happened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49520" y="3224851"/>
            <a:ext cx="209296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Mark it solved, still broken, or a new error appeared</a:t>
            </a:r>
            <a:endParaRPr lang="en-US" sz="1100" dirty="0"/>
          </a:p>
        </p:txBody>
      </p:sp>
      <p:pic>
        <p:nvPicPr>
          <p:cNvPr id="19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3900" y="2857184"/>
            <a:ext cx="431800" cy="101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178800" y="2213930"/>
            <a:ext cx="60960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72B6"/>
              </a:gs>
              <a:gs pos="100000">
                <a:srgbClr val="DB2777"/>
              </a:gs>
            </a:gsLst>
            <a:lin ang="2700000" scaled="0"/>
          </a:gradFill>
          <a:ln/>
        </p:spPr>
      </p:sp>
      <p:sp>
        <p:nvSpPr>
          <p:cNvPr id="21" name="Text 17"/>
          <p:cNvSpPr/>
          <p:nvPr/>
        </p:nvSpPr>
        <p:spPr>
          <a:xfrm>
            <a:off x="8326596" y="2381566"/>
            <a:ext cx="3647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3️⃣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466717" y="2925130"/>
            <a:ext cx="203368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Re-check only if needed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437120" y="3224851"/>
            <a:ext cx="209296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10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Retrieval re-runs only on a genuinely different error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744629" y="4026539"/>
            <a:ext cx="6702663" cy="467360"/>
          </a:xfrm>
          <a:prstGeom prst="roundRect">
            <a:avLst>
              <a:gd name="adj" fmla="val 50000"/>
            </a:avLst>
          </a:prstGeom>
          <a:solidFill>
            <a:srgbClr val="ECE4FF"/>
          </a:solidFill>
          <a:ln/>
        </p:spPr>
      </p:sp>
      <p:pic>
        <p:nvPicPr>
          <p:cNvPr id="25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98629" y="4171317"/>
            <a:ext cx="177800" cy="1778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278029" y="4153539"/>
            <a:ext cx="60927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✅ Solved → saved automatically. 🚨 Still stuck → escalated with full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381000"/>
            <a:ext cx="137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09_escalation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⚠️ UNDER THE HOOD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043942"/>
            <a:ext cx="10883392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613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🚨 When it can't answer confidently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12800" y="1856104"/>
            <a:ext cx="5181600" cy="2322830"/>
          </a:xfrm>
          <a:prstGeom prst="roundRect">
            <a:avLst>
              <a:gd name="adj" fmla="val 6561"/>
            </a:avLst>
          </a:prstGeom>
          <a:gradFill rotWithShape="1">
            <a:gsLst>
              <a:gs pos="0">
                <a:srgbClr val="4C1D95"/>
              </a:gs>
              <a:gs pos="100000">
                <a:srgbClr val="2A1454"/>
              </a:gs>
            </a:gsLst>
            <a:lin ang="3600000" scaled="0"/>
          </a:gradFill>
          <a:ln/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2160904"/>
            <a:ext cx="279400" cy="279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7600" y="2567304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🚨 Smart escalation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17600" y="2953389"/>
            <a:ext cx="470916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Below the confidence threshold, DevAssist AI stops guessing. It routes the ticket straight to the responsible team, with the reason for escalation attached — no manual triage needed.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7600" y="1856104"/>
            <a:ext cx="5181600" cy="2322830"/>
          </a:xfrm>
          <a:prstGeom prst="roundRect">
            <a:avLst>
              <a:gd name="adj" fmla="val 6561"/>
            </a:avLst>
          </a:prstGeom>
          <a:solidFill>
            <a:srgbClr val="ECE4FF"/>
          </a:solidFill>
          <a:ln/>
        </p:spPr>
      </p:sp>
      <p:pic>
        <p:nvPicPr>
          <p:cNvPr id="14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2400" y="2160904"/>
            <a:ext cx="279400" cy="279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02400" y="2567304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13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💾 Saved solutions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02400" y="2953389"/>
            <a:ext cx="4709160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54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analyzed ticket is saved the moment guidance is produced — no manual "save" step. The whole team gets an always-current, searchable reference.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12800" y="6238242"/>
            <a:ext cx="957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490A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20B2E"/>
              </a:gs>
              <a:gs pos="45000">
                <a:srgbClr val="2A1454"/>
              </a:gs>
              <a:gs pos="100000">
                <a:srgbClr val="4C1D95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382000" y="0"/>
            <a:ext cx="3810000" cy="3810000"/>
          </a:xfrm>
          <a:prstGeom prst="roundRect">
            <a:avLst>
              <a:gd name="adj" fmla="val 42667"/>
            </a:avLst>
          </a:prstGeom>
          <a:gradFill rotWithShape="1">
            <a:gsLst>
              <a:gs pos="0">
                <a:srgbClr val="22D3EE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3556000"/>
            <a:ext cx="3302000" cy="3302000"/>
          </a:xfrm>
          <a:prstGeom prst="roundRect">
            <a:avLst>
              <a:gd name="adj" fmla="val 49231"/>
            </a:avLst>
          </a:prstGeom>
          <a:gradFill rotWithShape="1">
            <a:gsLst>
              <a:gs pos="0">
                <a:srgbClr val="F472B6">
                  <a:alpha val="2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304800" y="31432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4325" y="304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77675" y="6273800"/>
            <a:ext cx="0" cy="279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7800" y="6543675"/>
            <a:ext cx="279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1694" y="381000"/>
            <a:ext cx="21256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kern="0" spc="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devassist --status live</a:t>
            </a:r>
            <a:endParaRPr lang="en-US" sz="1000" dirty="0"/>
          </a:p>
        </p:txBody>
      </p:sp>
      <p:pic>
        <p:nvPicPr>
          <p:cNvPr id="10" name="Image 0" descr="Thumbs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92800" y="1977392"/>
            <a:ext cx="406400" cy="406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11682" y="2612392"/>
            <a:ext cx="3768636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6F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🚀 Try it live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844675" y="351155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C9BF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Grounded troubleshooting guidance, screenshot to solution, one clean panel at a time.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3365" y="4309114"/>
            <a:ext cx="4065270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ang="1800000" scaled="0"/>
          </a:gradFill>
          <a:ln/>
        </p:spPr>
      </p:sp>
      <p:pic>
        <p:nvPicPr>
          <p:cNvPr id="14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8165" y="4499614"/>
            <a:ext cx="190500" cy="190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2812" y="4461514"/>
            <a:ext cx="32584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u="sng" dirty="0">
                <a:solidFill>
                  <a:srgbClr val="0B0F19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devassist-ai-1-ual5.onrender.com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56610" y="6238242"/>
            <a:ext cx="38584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A79BD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DevAssist AI — built end to end by M.S.S. LOKESH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1111</Words>
  <Application>Microsoft Office PowerPoint</Application>
  <PresentationFormat>Widescreen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JetBrains Mono</vt:lpstr>
      <vt:lpstr>Space Grotesk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DevAssist AI</dc:title>
  <dc:subject>PptxGenJS Presentation</dc:subject>
  <dc:creator>PptxGenJS</dc:creator>
  <cp:lastModifiedBy>SAI SATYA LOKESH</cp:lastModifiedBy>
  <cp:revision>2</cp:revision>
  <dcterms:created xsi:type="dcterms:W3CDTF">2026-09-27T16:54:26Z</dcterms:created>
  <dcterms:modified xsi:type="dcterms:W3CDTF">2026-09-29T10:57:32Z</dcterms:modified>
</cp:coreProperties>
</file>